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com a proposta central: a RupControl reúne a rotina da barbearia. Pergunte como o cliente controla agenda e recebimentos hoje. Não apresente resultados financeiros fictícios como desempenho de um cliente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esta página para descobrir a dor principal do prospect. Peça um exemplo recente de horário conflitante, conta pendente ou diferença de caixa. Evite prometer percentuais de crescimento ou redução de custos sem evidências.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como os módulos compartilham cadastros e registros. A reserva, o atendimento, a comanda e o recebimento fazem parte de uma jornada; a empresa escolhe o fluxo adequado para não cobrar a mesma operação duas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jornada pública: unidade, um ou mais serviços, profissional, horário e dados de contato. O link usa a mesma agenda. Diga que a agenda pública depende de plano compatível e de disponibilidade cadastrada.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agenda e a sequência dos estados. Explique que a disponibilidade pode separar manhã e tarde e que bloqueios tratam folgas e férias. Reagendamento pelo WhatsApp é uma proposta que depende da confirmação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uma comanda com serviço e produto e divisão de pagamento. Diferencie a venda rápida, a cobrança do atendimento e a comanda. PIX e cartão precisam de conferência manual nos recebimentos da barbearia.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a diferença entre recebimentos totais e dinheiro físico na gaveta. O caixa inclui abertura com troco, sangria, suprimento e fechamento com contagem. Os exemplos da imagem não são resultados reais de uma barbearia.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saldo, o custo, o preço de venda e o estoque mínimo. Explique a diferença entre entrada e ajuste de contagem. As vendas de produto e o fechamento das comandas podem atualizar o estoque conforme o fluxo usado.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cadastros e a conta do cliente. Não prometa um histórico completo de atendimentos: o módulo atual permite consultar pendências e o histórico de pagamentos carregado pelo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os perfis e permissões. Apresente o relatório de comissões por profissional e período. O módulo não paga nem quita comissões automaticamente; é uma ferramenta de conferência, com regras e snapshots dos registros.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como opção do plano compatível, com integração ativada. A IA depende de configuração própria. O desenho representa um fluxo possível, não uma conversa real nem uma validação de um provedor. A confirmação do cliente antecede a reserva.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filtros por período, forma de pagamento e status. Diferencie registros de recebimento de quantidade de atendimentos, pois pagamentos divididos podem gerar várias linhas. PDF e CSV apoiam a conferência e a análise.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os planos sem usar os valores fictícios das capturas. Starter atende gestão interna; Pro acrescenta agenda pública e recursos compatíveis de automação; Pro + Filiais atende operação com unidades conforme limites contratados. Informe somente preços confirmados na proposta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Descreva a sequência básica de implantação: configurar a barbearia, cadastrar serviços e equipe, preparar disponibilidade e operação de caixa, validar o fluxo e acompanhar os relatórios. Não prometa migração automática, treinamento incluso ou prazo de implantação que não foram combinados.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convidando o prospect para uma demonstração e uma proposta adequada ao porte da operação. Pergunte qual etapa da rotina é mais urgente organizar. Confirme preço, limites e integrações na proposta, sem inventar condições comerciais.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AF0B4"/>
                </a:solidFill>
                <a:latin typeface="DejaVu Sans"/>
              </a:defRPr>
            </a:pPr>
            <a:r>
              <a:t>GESTÃO PARA BARBEARIAS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364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ADB6C1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ADB6C1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680" y="1097280"/>
            <a:ext cx="2286000" cy="3352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" y="1158240"/>
            <a:ext cx="211836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FFFFFF"/>
                </a:solidFill>
                <a:latin typeface="DejaVu Sans"/>
              </a:defRPr>
            </a:pPr>
            <a:r>
              <a:t>GESTÃO PARA BARBEARIAS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80" y="1737360"/>
            <a:ext cx="5814060" cy="1691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80" b="1">
                <a:solidFill>
                  <a:srgbClr val="FFFFFF"/>
                </a:solidFill>
                <a:latin typeface="DejaVu Sans"/>
              </a:defRPr>
            </a:pPr>
            <a:r>
              <a:t>Sua barbearia.</a:t>
            </a:r>
          </a:p>
          <a:p>
            <a:pPr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80" b="1">
                <a:solidFill>
                  <a:srgbClr val="FFFFFF"/>
                </a:solidFill>
                <a:latin typeface="DejaVu Sans"/>
              </a:defRPr>
            </a:pPr>
            <a:r>
              <a:t>Sob controle.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" y="3672840"/>
            <a:ext cx="5204460" cy="716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BAC6D4"/>
                </a:solidFill>
                <a:latin typeface="DejaVu Sans"/>
              </a:defRPr>
            </a:pPr>
            <a:r>
              <a:t>Agenda, vendas, caixa e equipe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BAC6D4"/>
                </a:solidFill>
                <a:latin typeface="DejaVu Sans"/>
              </a:defRPr>
            </a:pPr>
            <a:r>
              <a:t>em uma rotina mais organizada.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160" y="5021580"/>
            <a:ext cx="1554480" cy="335280"/>
          </a:xfrm>
          <a:prstGeom prst="roundRect">
            <a:avLst>
              <a:gd name="adj" fmla="val 1200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5082540"/>
            <a:ext cx="138684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CAF0B4"/>
                </a:solidFill>
                <a:latin typeface="DejaVu Sans"/>
              </a:defRPr>
            </a:pPr>
            <a:r>
              <a:t>Mais organização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25040" y="5021580"/>
            <a:ext cx="1554480" cy="335280"/>
          </a:xfrm>
          <a:prstGeom prst="roundRect">
            <a:avLst>
              <a:gd name="adj" fmla="val 1200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4580" y="5082540"/>
            <a:ext cx="138684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CAF0B4"/>
                </a:solidFill>
                <a:latin typeface="DejaVu Sans"/>
              </a:defRPr>
            </a:pPr>
            <a:r>
              <a:t>Mais clareza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5021580"/>
            <a:ext cx="1554480" cy="335280"/>
          </a:xfrm>
          <a:prstGeom prst="roundRect">
            <a:avLst>
              <a:gd name="adj" fmla="val 1200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1460" y="5082540"/>
            <a:ext cx="138684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CAF0B4"/>
                </a:solidFill>
                <a:latin typeface="DejaVu Sans"/>
              </a:defRPr>
            </a:pPr>
            <a:r>
              <a:t>Mais controle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1280" y="151638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252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ix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0" y="1727589"/>
            <a:ext cx="5029200" cy="15892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22720" y="3611880"/>
            <a:ext cx="505206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AAB7C7"/>
                </a:solidFill>
                <a:latin typeface="DejaVu Sans"/>
              </a:defRPr>
            </a:pPr>
            <a:r>
              <a:t>Tela demonstrativa · dados fictícios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31280" y="4061460"/>
            <a:ext cx="5212080" cy="1562100"/>
          </a:xfrm>
          <a:prstGeom prst="roundRect">
            <a:avLst>
              <a:gd name="adj" fmla="val 8780"/>
            </a:avLst>
          </a:prstGeom>
          <a:solidFill>
            <a:srgbClr val="252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gen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402" y="4152900"/>
            <a:ext cx="3383835" cy="13792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22720" y="5798820"/>
            <a:ext cx="5052060" cy="48463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AC6D4"/>
                </a:solidFill>
                <a:latin typeface="DejaVu Sans"/>
              </a:defRPr>
            </a:pPr>
            <a:r>
              <a:t>Um sistema para acompanhar a operação</a:t>
            </a:r>
          </a:p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AC6D4"/>
                </a:solidFill>
                <a:latin typeface="DejaVu Sans"/>
              </a:defRPr>
            </a:pPr>
            <a:r>
              <a:t>e decidir com mais informação.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A ROTINA DE QUEM EMPREENDE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5384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O movimento cresce.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O controle precisa acompanhar.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5830"/>
            <a:ext cx="105384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57080"/>
                </a:solidFill>
                <a:latin typeface="DejaVu Sans"/>
              </a:defRPr>
            </a:pPr>
            <a:r>
              <a:t>Quando as informações ficam espalhadas, a conferência dá mais trabalho.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" y="2857500"/>
            <a:ext cx="5516880" cy="140970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560" y="3048000"/>
            <a:ext cx="556260" cy="3712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ED644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540" y="3040380"/>
            <a:ext cx="4488180" cy="3712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61A20"/>
                </a:solidFill>
                <a:latin typeface="DejaVu Sans"/>
              </a:defRPr>
            </a:pPr>
            <a:r>
              <a:t>Agenda descentralizada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2540" y="3436620"/>
            <a:ext cx="4457700" cy="5943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57080"/>
                </a:solidFill>
                <a:latin typeface="DejaVu Sans"/>
              </a:defRPr>
            </a:pPr>
            <a:r>
              <a:t>Reservas em conversas e anotações dificultam saber o que está confirmado.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440" y="2857500"/>
            <a:ext cx="5516880" cy="140970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320" y="3048000"/>
            <a:ext cx="556260" cy="3712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ED644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3040380"/>
            <a:ext cx="4488180" cy="3712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61A20"/>
                </a:solidFill>
                <a:latin typeface="DejaVu Sans"/>
              </a:defRPr>
            </a:pPr>
            <a:r>
              <a:t>Recebimentos sem visão clara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2300" y="3436620"/>
            <a:ext cx="4457700" cy="5943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57080"/>
                </a:solidFill>
                <a:latin typeface="DejaVu Sans"/>
              </a:defRPr>
            </a:pPr>
            <a:r>
              <a:t>Pagamentos, contas pendentes e movimentos de caixa exigem conferência.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7680" y="4488180"/>
            <a:ext cx="5516880" cy="140970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560" y="4678680"/>
            <a:ext cx="556260" cy="3712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ED644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2540" y="4671060"/>
            <a:ext cx="4488180" cy="3712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61A20"/>
                </a:solidFill>
                <a:latin typeface="DejaVu Sans"/>
              </a:defRPr>
            </a:pPr>
            <a:r>
              <a:t>Estoque difícil de acompanhar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2540" y="5067300"/>
            <a:ext cx="4457700" cy="5943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57080"/>
                </a:solidFill>
                <a:latin typeface="DejaVu Sans"/>
              </a:defRPr>
            </a:pPr>
            <a:r>
              <a:t>Sem saldo e histórico, fica mais trabalhoso decidir quando repor.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440" y="4488180"/>
            <a:ext cx="5516880" cy="140970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320" y="4678680"/>
            <a:ext cx="556260" cy="3712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ED644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2300" y="4671060"/>
            <a:ext cx="4488180" cy="3712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83"/>
              </a:lnSpc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61A20"/>
                </a:solidFill>
                <a:latin typeface="DejaVu Sans"/>
              </a:defRPr>
            </a:pPr>
            <a:r>
              <a:t>Gestão dependente da memória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2300" y="5067300"/>
            <a:ext cx="4457700" cy="5943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657080"/>
                </a:solidFill>
                <a:latin typeface="DejaVu Sans"/>
              </a:defRPr>
            </a:pPr>
            <a:r>
              <a:t>Equipe, comissões e despesas precisam de registros para acompanhar a operação.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AF0B4"/>
                </a:solidFill>
                <a:latin typeface="DejaVu Sans"/>
              </a:defRPr>
            </a:pPr>
            <a:r>
              <a:t>A PROPOSTA RUPCONTROL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364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ADB6C1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ADB6C1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3098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FFFFFF"/>
                </a:solidFill>
                <a:latin typeface="DejaVu Sans"/>
              </a:defRPr>
            </a:pPr>
            <a:r>
              <a:t>Do agendamento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FFFFFF"/>
                </a:solidFill>
                <a:latin typeface="DejaVu Sans"/>
              </a:defRPr>
            </a:pPr>
            <a:r>
              <a:t>à gestão do negócio.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5830"/>
            <a:ext cx="103098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7C2D0"/>
                </a:solidFill>
                <a:latin typeface="DejaVu Sans"/>
              </a:defRPr>
            </a:pPr>
            <a:r>
              <a:t>Cadastros e registros conectados para acompanhar a rotina.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" y="3086100"/>
            <a:ext cx="2590800" cy="1478280"/>
          </a:xfrm>
          <a:prstGeom prst="roundRect">
            <a:avLst>
              <a:gd name="adj" fmla="val 1134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560" y="3261360"/>
            <a:ext cx="670560" cy="50352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24"/>
              </a:lnSpc>
              <a:spcBef>
                <a:spcPts val="0"/>
              </a:spcBef>
              <a:spcAft>
                <a:spcPts val="0"/>
              </a:spcAft>
              <a:defRPr sz="2520" b="1">
                <a:solidFill>
                  <a:srgbClr val="CAF0B4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" y="3749039"/>
            <a:ext cx="2324100" cy="31455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36"/>
              </a:lnSpc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FFFFFF"/>
                </a:solidFill>
                <a:latin typeface="DejaVu Sans"/>
              </a:defRPr>
            </a:pPr>
            <a:r>
              <a:t>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" y="4053840"/>
            <a:ext cx="221742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BBC7D6"/>
                </a:solidFill>
                <a:latin typeface="DejaVu Sans"/>
              </a:defRPr>
            </a:pPr>
            <a:r>
              <a:t>Nome, contato e pendências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1820" y="3604260"/>
            <a:ext cx="502920" cy="51297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99"/>
              </a:lnSpc>
              <a:spcBef>
                <a:spcPts val="0"/>
              </a:spcBef>
              <a:spcAft>
                <a:spcPts val="0"/>
              </a:spcAft>
              <a:defRPr sz="2580" b="0">
                <a:solidFill>
                  <a:srgbClr val="CAF0B4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0900" y="3086100"/>
            <a:ext cx="2590800" cy="1478280"/>
          </a:xfrm>
          <a:prstGeom prst="roundRect">
            <a:avLst>
              <a:gd name="adj" fmla="val 1134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3780" y="3261360"/>
            <a:ext cx="670560" cy="50352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24"/>
              </a:lnSpc>
              <a:spcBef>
                <a:spcPts val="0"/>
              </a:spcBef>
              <a:spcAft>
                <a:spcPts val="0"/>
              </a:spcAft>
              <a:defRPr sz="2520" b="1">
                <a:solidFill>
                  <a:srgbClr val="CAF0B4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400" y="3749039"/>
            <a:ext cx="2324100" cy="31455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36"/>
              </a:lnSpc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FFFFFF"/>
                </a:solidFill>
                <a:latin typeface="DejaVu Sans"/>
              </a:defRPr>
            </a:pPr>
            <a:r>
              <a:t>ATENDIMENTO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400" y="4053840"/>
            <a:ext cx="221742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BBC7D6"/>
                </a:solidFill>
                <a:latin typeface="DejaVu Sans"/>
              </a:defRPr>
            </a:pPr>
            <a:r>
              <a:t>Serviço, profissional e horário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604260"/>
            <a:ext cx="502920" cy="51297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99"/>
              </a:lnSpc>
              <a:spcBef>
                <a:spcPts val="0"/>
              </a:spcBef>
              <a:spcAft>
                <a:spcPts val="0"/>
              </a:spcAft>
              <a:defRPr sz="2580" b="0">
                <a:solidFill>
                  <a:srgbClr val="CAF0B4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4120" y="3086100"/>
            <a:ext cx="2590800" cy="1478280"/>
          </a:xfrm>
          <a:prstGeom prst="roundRect">
            <a:avLst>
              <a:gd name="adj" fmla="val 1134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7000" y="3261360"/>
            <a:ext cx="670560" cy="50352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24"/>
              </a:lnSpc>
              <a:spcBef>
                <a:spcPts val="0"/>
              </a:spcBef>
              <a:spcAft>
                <a:spcPts val="0"/>
              </a:spcAft>
              <a:defRPr sz="2520" b="1">
                <a:solidFill>
                  <a:srgbClr val="CAF0B4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4620" y="3749039"/>
            <a:ext cx="2324100" cy="31455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36"/>
              </a:lnSpc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FFFFFF"/>
                </a:solidFill>
                <a:latin typeface="DejaVu Sans"/>
              </a:defRPr>
            </a:pPr>
            <a:r>
              <a:t>VENDA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4620" y="4053840"/>
            <a:ext cx="221742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BBC7D6"/>
                </a:solidFill>
                <a:latin typeface="DejaVu Sans"/>
              </a:defRPr>
            </a:pPr>
            <a:r>
              <a:t>Itens e formas de pagamento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3604260"/>
            <a:ext cx="502920" cy="51297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99"/>
              </a:lnSpc>
              <a:spcBef>
                <a:spcPts val="0"/>
              </a:spcBef>
              <a:spcAft>
                <a:spcPts val="0"/>
              </a:spcAft>
              <a:defRPr sz="2580" b="0">
                <a:solidFill>
                  <a:srgbClr val="CAF0B4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97340" y="3086100"/>
            <a:ext cx="2590800" cy="1478280"/>
          </a:xfrm>
          <a:prstGeom prst="roundRect">
            <a:avLst>
              <a:gd name="adj" fmla="val 1134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0220" y="3261360"/>
            <a:ext cx="670560" cy="50352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24"/>
              </a:lnSpc>
              <a:spcBef>
                <a:spcPts val="0"/>
              </a:spcBef>
              <a:spcAft>
                <a:spcPts val="0"/>
              </a:spcAft>
              <a:defRPr sz="2520" b="1">
                <a:solidFill>
                  <a:srgbClr val="CAF0B4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7840" y="3749039"/>
            <a:ext cx="2324100" cy="31455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36"/>
              </a:lnSpc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FFFFFF"/>
                </a:solidFill>
                <a:latin typeface="DejaVu Sans"/>
              </a:defRPr>
            </a:pPr>
            <a:r>
              <a:t>GESTÃO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7840" y="4053840"/>
            <a:ext cx="2217420" cy="3276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BBC7D6"/>
                </a:solidFill>
                <a:latin typeface="DejaVu Sans"/>
              </a:defRPr>
            </a:pPr>
            <a:r>
              <a:t>Caixa, estoque e relatórios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160" y="5227320"/>
            <a:ext cx="10462260" cy="42793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FFFFFF"/>
                </a:solidFill>
                <a:latin typeface="DejaVu Sans"/>
              </a:defRPr>
            </a:pPr>
            <a:r>
              <a:t>Uma informação bem registrada facilita a próxima etapa.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160" y="5661660"/>
            <a:ext cx="10309860" cy="333451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BAC6D4"/>
                </a:solidFill>
                <a:latin typeface="DejaVu Sans"/>
              </a:defRPr>
            </a:pPr>
            <a:r>
              <a:t>Da recepção ao proprietário, cada perfil participa conforme seu acesso.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EXPERIÊNCIA DO CLIENTE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9194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Seu cliente escolhe.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Sua equipe acompanha.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680" y="276606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420" y="2689860"/>
            <a:ext cx="35509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Agendamento pelo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" y="3036417"/>
            <a:ext cx="355092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Serviço, profissional e horário em uma página da barbearia.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680" y="391668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420" y="3840480"/>
            <a:ext cx="35509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Sua identidade na vitrine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" y="4187037"/>
            <a:ext cx="355092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Informações, contatos, logo e capa para apresentar o negócio.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503682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420" y="4960620"/>
            <a:ext cx="35509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A reserva entra na agenda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" y="5307177"/>
            <a:ext cx="355092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A equipe acompanha o atendimento no painel.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339340"/>
            <a:ext cx="7208520" cy="354330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genda-publ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083" y="2430780"/>
            <a:ext cx="4908033" cy="33604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26280" y="5966460"/>
            <a:ext cx="704850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Tela demonstrativa · dados fictícios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" y="6164580"/>
            <a:ext cx="1091946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Disponível conforme o plano e a configuração da agenda pública.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AGENDA E EQUIPE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9956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Cada atendimento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no seu lugar.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680" y="267462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420" y="2598420"/>
            <a:ext cx="35509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Agenda da equipe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" y="2944977"/>
            <a:ext cx="355092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Cliente, serviço, profissional, unidade e status em cada registro.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680" y="381000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420" y="3733799"/>
            <a:ext cx="35509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Disponibilidade organizada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" y="4080357"/>
            <a:ext cx="355092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Rotina semanal, intervalos e bloqueios para ausências.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491490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420" y="4838700"/>
            <a:ext cx="35509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Acompanhe a evolução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" y="5185257"/>
            <a:ext cx="355092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Da chegada do cliente à finalização do atendimento.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1980" y="2453640"/>
            <a:ext cx="7216140" cy="315468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g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597634"/>
            <a:ext cx="7033260" cy="28666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03420" y="5692140"/>
            <a:ext cx="705612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Tela demonstrativa · dados fictícios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7700" y="5935980"/>
            <a:ext cx="1402080" cy="335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7240" y="5996940"/>
            <a:ext cx="123444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1A20"/>
                </a:solidFill>
                <a:latin typeface="DejaVu Sans"/>
              </a:defRPr>
            </a:pPr>
            <a:r>
              <a:t>Agendado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5060" y="5935980"/>
            <a:ext cx="1264920" cy="335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600" y="5996940"/>
            <a:ext cx="109728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1A20"/>
                </a:solidFill>
                <a:latin typeface="DejaVu Sans"/>
              </a:defRPr>
            </a:pPr>
            <a:r>
              <a:t>Presente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5935980"/>
            <a:ext cx="1836420" cy="335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1940" y="5996940"/>
            <a:ext cx="166878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1A20"/>
                </a:solidFill>
                <a:latin typeface="DejaVu Sans"/>
              </a:defRPr>
            </a:pPr>
            <a:r>
              <a:t>Em atendimento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6480" y="5935980"/>
            <a:ext cx="1600200" cy="335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6020" y="5996940"/>
            <a:ext cx="143256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1A20"/>
                </a:solidFill>
                <a:latin typeface="DejaVu Sans"/>
              </a:defRPr>
            </a:pPr>
            <a:r>
              <a:t>Finalizado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5958840"/>
            <a:ext cx="304800" cy="3429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D644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5220" y="5958840"/>
            <a:ext cx="304800" cy="3429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D644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1680" y="5958840"/>
            <a:ext cx="304800" cy="3429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D6448"/>
                </a:solidFill>
                <a:latin typeface="DejaVu Sans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VENDAS E COMANDAS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9194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Serviços e produtos.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Uma cobrança organizada.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680" y="270510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420" y="2628900"/>
            <a:ext cx="48463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Venda rápida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" y="2975457"/>
            <a:ext cx="484632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Registre a venda direta e associe cliente e profissional.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680" y="381000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420" y="3733799"/>
            <a:ext cx="48463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Comanda com os itens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" y="4080357"/>
            <a:ext cx="484632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Reúna serviços e produtos no mesmo atendimento.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491490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420" y="4838700"/>
            <a:ext cx="48463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Pagamento dividido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" y="5185257"/>
            <a:ext cx="484632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Distribua o total entre formas de pagamento ou registre saldo pendente.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9380" y="2415540"/>
            <a:ext cx="475488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21-fechar-com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761" y="2506980"/>
            <a:ext cx="4034117" cy="3429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60820" y="6111240"/>
            <a:ext cx="459486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Tela demonstrativa · dados fictícios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" y="6164580"/>
            <a:ext cx="1091946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Recebimentos por PIX e cartão são conferidos e registrados pela equipe.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AF0B4"/>
                </a:solidFill>
                <a:latin typeface="DejaVu Sans"/>
              </a:defRPr>
            </a:pPr>
            <a:r>
              <a:t>CAIXA E FINANCEIRO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364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ADB6C1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ADB6C1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5384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FFFFFF"/>
                </a:solidFill>
                <a:latin typeface="DejaVu Sans"/>
              </a:defRPr>
            </a:pPr>
            <a:r>
              <a:t>Saiba o que entrou.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FFFFFF"/>
                </a:solidFill>
                <a:latin typeface="DejaVu Sans"/>
              </a:defRPr>
            </a:pPr>
            <a:r>
              <a:t>Confira o que ficou.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5830"/>
            <a:ext cx="105384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7C2D0"/>
                </a:solidFill>
                <a:latin typeface="DejaVu Sans"/>
              </a:defRPr>
            </a:pPr>
            <a:r>
              <a:t>Abertura, movimentações e fechamento para conferir o dinheiro da gaveta.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" y="2705100"/>
            <a:ext cx="11231880" cy="1203960"/>
          </a:xfrm>
          <a:prstGeom prst="roundRect">
            <a:avLst>
              <a:gd name="adj" fmla="val 11392"/>
            </a:avLst>
          </a:prstGeom>
          <a:solidFill>
            <a:srgbClr val="252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ndicadores-caix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2883170"/>
            <a:ext cx="11049000" cy="8478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3992879"/>
            <a:ext cx="1107186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AAB7C7"/>
                </a:solidFill>
                <a:latin typeface="DejaVu Sans"/>
              </a:defRPr>
            </a:pPr>
            <a:r>
              <a:t>Tela demonstrativa · dados fictícios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299" y="4526280"/>
            <a:ext cx="3581400" cy="1409700"/>
          </a:xfrm>
          <a:prstGeom prst="roundRect">
            <a:avLst>
              <a:gd name="adj" fmla="val 1081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180" y="4663440"/>
            <a:ext cx="518160" cy="39959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306"/>
              </a:lnSpc>
              <a:spcBef>
                <a:spcPts val="0"/>
              </a:spcBef>
              <a:spcAft>
                <a:spcPts val="0"/>
              </a:spcAft>
              <a:defRPr sz="1859" b="1">
                <a:solidFill>
                  <a:srgbClr val="CAF0B4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" y="5013960"/>
            <a:ext cx="3208020" cy="35234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34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FFFFFF"/>
                </a:solidFill>
                <a:latin typeface="DejaVu Sans"/>
              </a:defRPr>
            </a:pPr>
            <a:r>
              <a:t>Abra com o troco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" y="5379720"/>
            <a:ext cx="320802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BAC6D4"/>
                </a:solidFill>
                <a:latin typeface="DejaVu Sans"/>
              </a:defRPr>
            </a:pPr>
            <a:r>
              <a:t>Registre o valor inicial da gaveta.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5780" y="4526280"/>
            <a:ext cx="3581400" cy="1409700"/>
          </a:xfrm>
          <a:prstGeom prst="roundRect">
            <a:avLst>
              <a:gd name="adj" fmla="val 1081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8660" y="4663440"/>
            <a:ext cx="518160" cy="39959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306"/>
              </a:lnSpc>
              <a:spcBef>
                <a:spcPts val="0"/>
              </a:spcBef>
              <a:spcAft>
                <a:spcPts val="0"/>
              </a:spcAft>
              <a:defRPr sz="1859" b="1">
                <a:solidFill>
                  <a:srgbClr val="CAF0B4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8660" y="5013960"/>
            <a:ext cx="3208020" cy="35234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34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FFFFFF"/>
                </a:solidFill>
                <a:latin typeface="DejaVu Sans"/>
              </a:defRPr>
            </a:pPr>
            <a:r>
              <a:t>Registre os movimentos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8660" y="5379720"/>
            <a:ext cx="320802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BAC6D4"/>
                </a:solidFill>
                <a:latin typeface="DejaVu Sans"/>
              </a:defRPr>
            </a:pPr>
            <a:r>
              <a:t>Acompanhe sangrias e suprimentos.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76260" y="4526280"/>
            <a:ext cx="3581400" cy="1409700"/>
          </a:xfrm>
          <a:prstGeom prst="roundRect">
            <a:avLst>
              <a:gd name="adj" fmla="val 1081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9140" y="4663440"/>
            <a:ext cx="518160" cy="39959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306"/>
              </a:lnSpc>
              <a:spcBef>
                <a:spcPts val="0"/>
              </a:spcBef>
              <a:spcAft>
                <a:spcPts val="0"/>
              </a:spcAft>
              <a:defRPr sz="1859" b="1">
                <a:solidFill>
                  <a:srgbClr val="CAF0B4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9140" y="5013960"/>
            <a:ext cx="3208020" cy="35234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34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FFFFFF"/>
                </a:solidFill>
                <a:latin typeface="DejaVu Sans"/>
              </a:defRPr>
            </a:pPr>
            <a:r>
              <a:t>Feche com a contagem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9140" y="5379720"/>
            <a:ext cx="320802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BAC6D4"/>
                </a:solidFill>
                <a:latin typeface="DejaVu Sans"/>
              </a:defRPr>
            </a:pPr>
            <a:r>
              <a:t>Compare o esperado com o contado.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PRODUTOS E ESTOQUE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5384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Estoque com histórico.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Reposição com critério.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5830"/>
            <a:ext cx="105384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57080"/>
                </a:solidFill>
                <a:latin typeface="DejaVu Sans"/>
              </a:defRPr>
            </a:pPr>
            <a:r>
              <a:t>Acompanhe produtos por unidade e identifique o que precisa de atenção.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74620"/>
            <a:ext cx="11247120" cy="2004060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stoq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597" y="2766060"/>
            <a:ext cx="6774325" cy="18211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762500"/>
            <a:ext cx="1108710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Tela demonstrativa · dados fictícios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680" y="528066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420" y="5204460"/>
            <a:ext cx="339090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Saldo e estoque mínimo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20" y="5551017"/>
            <a:ext cx="339090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Priorize os itens que precisam de reposição.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5780" y="528066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520" y="5204460"/>
            <a:ext cx="339090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Custo e preço de venda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5551017"/>
            <a:ext cx="339090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Consulte os valores cadastrados do produto.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528066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9620" y="5204460"/>
            <a:ext cx="339090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Entradas, perdas e ajustes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9620" y="5551017"/>
            <a:ext cx="339090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Mantenha o motivo de cada movimentação.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CLIENTES E RECEBIMENTOS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9956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Relacionamento também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é organização.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680" y="272796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420" y="2651760"/>
            <a:ext cx="50749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Cadastros para o atendimento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" y="2998317"/>
            <a:ext cx="507492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Nome, contatos e observações relevantes para a equipe.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680" y="384048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420" y="3764279"/>
            <a:ext cx="50749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Pendências identificadas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" y="4110837"/>
            <a:ext cx="507492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Saiba quais valores estão em aberto na conta do cliente.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495300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420" y="4876800"/>
            <a:ext cx="507492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Pagamentos registrados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" y="5223357"/>
            <a:ext cx="507492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Faça a baixa após receber e acompanhe o histórico financeiro.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5100" y="2453640"/>
            <a:ext cx="4450080" cy="354330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8-conta-cli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2749550"/>
            <a:ext cx="4267200" cy="29514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06540" y="6080760"/>
            <a:ext cx="429006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Tela demonstrativa · dados fictícios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EQUIPE E COMISSÕES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9956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Acessos para a equipe.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Clareza na conferência.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7680" y="278130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420" y="2705100"/>
            <a:ext cx="353568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Funções e permissões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" y="3051657"/>
            <a:ext cx="353568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Defina o que cada perfil pode acessar na operação.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680" y="392430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420" y="3848099"/>
            <a:ext cx="3535680" cy="61691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Quem atende e quem administra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" y="4449775"/>
            <a:ext cx="353568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Separe o acesso ao sistema da participação na agenda.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508254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420" y="5006340"/>
            <a:ext cx="353568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Comissões por período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" y="5352897"/>
            <a:ext cx="353568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Confira bases e percentuais antes de pagar a equipe.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4360" y="2552700"/>
            <a:ext cx="7162800" cy="1501140"/>
          </a:xfrm>
          <a:prstGeom prst="roundRect">
            <a:avLst>
              <a:gd name="adj" fmla="val 913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qu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077" y="2644140"/>
            <a:ext cx="4513364" cy="13182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404360" y="4282440"/>
            <a:ext cx="7162800" cy="1546860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omisso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029" y="4373880"/>
            <a:ext cx="6837461" cy="13639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95800" y="5913120"/>
            <a:ext cx="700278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Tela demonstrativa · dados fictícios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AF0B4"/>
                </a:solidFill>
                <a:latin typeface="DejaVu Sans"/>
              </a:defRPr>
            </a:pPr>
            <a:r>
              <a:t>INTEGRAÇÕES E AUTOMAÇÃO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364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ADB6C1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ADB6C1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5384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FFFFFF"/>
                </a:solidFill>
                <a:latin typeface="DejaVu Sans"/>
              </a:defRPr>
            </a:pPr>
            <a:r>
              <a:t>O atendimento pode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FFFFFF"/>
                </a:solidFill>
                <a:latin typeface="DejaVu Sans"/>
              </a:defRPr>
            </a:pPr>
            <a:r>
              <a:t>começar no WhatsApp.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5830"/>
            <a:ext cx="105384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7C2D0"/>
                </a:solidFill>
                <a:latin typeface="DejaVu Sans"/>
              </a:defRPr>
            </a:pPr>
            <a:r>
              <a:t>Com a integração ativa, a conversa pode orientar o cliente até a reserva.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9560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" y="2819400"/>
            <a:ext cx="476250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DejaVu Sans"/>
              </a:defRPr>
            </a:pPr>
            <a:r>
              <a:t>Consulta os serviços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" y="3165957"/>
            <a:ext cx="476250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BAC6D4"/>
                </a:solidFill>
                <a:latin typeface="DejaVu Sans"/>
              </a:defRPr>
            </a:pPr>
            <a:r>
              <a:t>A conversa usa o catálogo e a agenda disponíveis.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1574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" y="3939540"/>
            <a:ext cx="476250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DejaVu Sans"/>
              </a:defRPr>
            </a:pPr>
            <a:r>
              <a:t>Oferece opções de horário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" y="4286097"/>
            <a:ext cx="476250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BAC6D4"/>
                </a:solidFill>
                <a:latin typeface="DejaVu Sans"/>
              </a:defRPr>
            </a:pPr>
            <a:r>
              <a:t>O cliente escolhe o atendimento que faz sentido.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3588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" y="5059680"/>
            <a:ext cx="476250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DejaVu Sans"/>
              </a:defRPr>
            </a:pPr>
            <a:r>
              <a:t>Pede confirmação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" y="5406237"/>
            <a:ext cx="4762500" cy="3352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BAC6D4"/>
                </a:solidFill>
                <a:latin typeface="DejaVu Sans"/>
              </a:defRPr>
            </a:pPr>
            <a:r>
              <a:t>O resumo é confirmado antes de registrar a reserva.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2346960"/>
            <a:ext cx="3733799" cy="3680460"/>
          </a:xfrm>
          <a:prstGeom prst="roundRect">
            <a:avLst>
              <a:gd name="adj" fmla="val 5383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0440" y="2567940"/>
            <a:ext cx="322326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1">
                <a:solidFill>
                  <a:srgbClr val="CAF0B4"/>
                </a:solidFill>
                <a:latin typeface="DejaVu Sans"/>
              </a:defRPr>
            </a:pPr>
            <a:r>
              <a:t>FLUXO ILUSTRATIVO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13320" y="3055620"/>
            <a:ext cx="2987040" cy="579120"/>
          </a:xfrm>
          <a:prstGeom prst="roundRect">
            <a:avLst>
              <a:gd name="adj" fmla="val 12000"/>
            </a:avLst>
          </a:prstGeom>
          <a:solidFill>
            <a:srgbClr val="2A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3340" y="3200400"/>
            <a:ext cx="2667000" cy="32400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11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FFFFFF"/>
                </a:solidFill>
                <a:latin typeface="DejaVu Sans"/>
              </a:defRPr>
            </a:pPr>
            <a:r>
              <a:t>Quero agendar um corte.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832860"/>
            <a:ext cx="2941320" cy="815340"/>
          </a:xfrm>
          <a:prstGeom prst="roundRect">
            <a:avLst>
              <a:gd name="adj" fmla="val 12000"/>
            </a:avLst>
          </a:prstGeom>
          <a:solidFill>
            <a:srgbClr val="34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2840" y="3977639"/>
            <a:ext cx="2651760" cy="5791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FFFFF"/>
                </a:solidFill>
                <a:latin typeface="DejaVu Sans"/>
              </a:defRPr>
            </a:pPr>
            <a:r>
              <a:t>Vamos escolher o profissional</a:t>
            </a:r>
          </a:p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FFFFFF"/>
                </a:solidFill>
                <a:latin typeface="DejaVu Sans"/>
              </a:defRPr>
            </a:pPr>
            <a:r>
              <a:t>e um horário disponível?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4820" y="4853940"/>
            <a:ext cx="2423160" cy="563880"/>
          </a:xfrm>
          <a:prstGeom prst="roundRect">
            <a:avLst>
              <a:gd name="adj" fmla="val 12000"/>
            </a:avLst>
          </a:prstGeom>
          <a:solidFill>
            <a:srgbClr val="2A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4840" y="4998720"/>
            <a:ext cx="2110740" cy="32400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11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FFFFFF"/>
                </a:solidFill>
                <a:latin typeface="DejaVu Sans"/>
              </a:defRPr>
            </a:pPr>
            <a:r>
              <a:t>Pode confirmar.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80" y="6164580"/>
            <a:ext cx="1091946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AAB7C7"/>
                </a:solidFill>
                <a:latin typeface="DejaVu Sans"/>
              </a:defRPr>
            </a:pPr>
            <a:r>
              <a:t>Plano compatível e integrações ativadas são necessários. Atendimento humano pode pausar a automação.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FINANCEIRO E RELATÓRIOS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5384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Decida com informação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do seu negócio.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5830"/>
            <a:ext cx="105384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57080"/>
                </a:solidFill>
                <a:latin typeface="DejaVu Sans"/>
              </a:defRPr>
            </a:pPr>
            <a:r>
              <a:t>Mais contexto para acompanhar a operação e planejar os próximos passos.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57500"/>
            <a:ext cx="11163300" cy="1592580"/>
          </a:xfrm>
          <a:prstGeom prst="roundRect">
            <a:avLst>
              <a:gd name="adj" fmla="val 86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lato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180" y="2948940"/>
            <a:ext cx="9742778" cy="1409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4533900"/>
            <a:ext cx="1100328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Tela demonstrativa · dados fictícios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680" y="512826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420" y="5052060"/>
            <a:ext cx="340614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Olhe o período certo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20" y="5398617"/>
            <a:ext cx="340614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Filtre recebimentos por datas, forma e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5780" y="512826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520" y="5052060"/>
            <a:ext cx="340614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Confira as pendências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5398617"/>
            <a:ext cx="340614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Separe o recebido do que está em aberto.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5128260"/>
            <a:ext cx="60960" cy="6096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9620" y="5052060"/>
            <a:ext cx="340614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Compartilhe a análise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9620" y="5398617"/>
            <a:ext cx="3406140" cy="563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20" b="0">
                <a:solidFill>
                  <a:srgbClr val="657080"/>
                </a:solidFill>
                <a:latin typeface="DejaVu Sans"/>
              </a:defRPr>
            </a:pPr>
            <a:r>
              <a:t>Exporte relatórios em PDF ou dados em CSV.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PLANOS E CONTRATAÇÃO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5384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Um plano para cada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momento da operação.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299" y="2560320"/>
            <a:ext cx="3611880" cy="3299460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280" y="2811780"/>
            <a:ext cx="3200400" cy="494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460" b="1">
                <a:solidFill>
                  <a:srgbClr val="161A20"/>
                </a:solidFill>
                <a:latin typeface="DejaVu Sans"/>
              </a:defRPr>
            </a:pPr>
            <a: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80" y="3276600"/>
            <a:ext cx="3177540" cy="29565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080"/>
                </a:solidFill>
                <a:latin typeface="DejaVu Sans"/>
              </a:defRPr>
            </a:pPr>
            <a:r>
              <a:t>Para a gestão interna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" y="3703320"/>
            <a:ext cx="31775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3900" y="4030980"/>
            <a:ext cx="53340" cy="5334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060" y="391668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161A20"/>
                </a:solidFill>
                <a:latin typeface="DejaVu Sans"/>
              </a:defRPr>
            </a:pPr>
            <a:r>
              <a:t>Clientes e serviços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900" y="4389120"/>
            <a:ext cx="53340" cy="5334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060" y="427482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161A20"/>
                </a:solidFill>
                <a:latin typeface="DejaVu Sans"/>
              </a:defRPr>
            </a:pPr>
            <a:r>
              <a:t>Vendas e comandas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3900" y="4747260"/>
            <a:ext cx="53340" cy="5334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060" y="463296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161A20"/>
                </a:solidFill>
                <a:latin typeface="DejaVu Sans"/>
              </a:defRPr>
            </a:pPr>
            <a:r>
              <a:t>Caixa, financeiro e estoque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3900" y="5105400"/>
            <a:ext cx="53340" cy="5334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060" y="499110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161A20"/>
                </a:solidFill>
                <a:latin typeface="DejaVu Sans"/>
              </a:defRPr>
            </a:pPr>
            <a:r>
              <a:t>Relatórios e conferência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280" y="5471160"/>
            <a:ext cx="3192780" cy="31455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36"/>
              </a:lnSpc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ED6448"/>
                </a:solidFill>
                <a:latin typeface="DejaVu Sans"/>
              </a:defRPr>
            </a:pPr>
            <a:r>
              <a:t>Solicite uma proposta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1020" y="2560320"/>
            <a:ext cx="3611880" cy="3299460"/>
          </a:xfrm>
          <a:prstGeom prst="roundRect">
            <a:avLst>
              <a:gd name="adj" fmla="val 5542"/>
            </a:avLst>
          </a:prstGeom>
          <a:solidFill>
            <a:srgbClr val="101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811780"/>
            <a:ext cx="3200400" cy="494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460" b="1">
                <a:solidFill>
                  <a:srgbClr val="FFFFFF"/>
                </a:solidFill>
                <a:latin typeface="DejaVu Sans"/>
              </a:defRPr>
            </a:pPr>
            <a:r>
              <a:t>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76600"/>
            <a:ext cx="3177540" cy="29565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AC6D4"/>
                </a:solidFill>
                <a:latin typeface="DejaVu Sans"/>
              </a:defRPr>
            </a:pPr>
            <a:r>
              <a:t>Para conectar atendimento e gestão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4380" y="3703320"/>
            <a:ext cx="3177540" cy="7620"/>
          </a:xfrm>
          <a:prstGeom prst="rect">
            <a:avLst/>
          </a:prstGeom>
          <a:solidFill>
            <a:srgbClr val="344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9620" y="4030980"/>
            <a:ext cx="53340" cy="53340"/>
          </a:xfrm>
          <a:prstGeom prst="roundRect">
            <a:avLst>
              <a:gd name="adj" fmla="val 12000"/>
            </a:avLst>
          </a:prstGeom>
          <a:solidFill>
            <a:srgbClr val="CA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6780" y="391668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FFFFFF"/>
                </a:solidFill>
                <a:latin typeface="DejaVu Sans"/>
              </a:defRPr>
            </a:pPr>
            <a:r>
              <a:t>Recursos da gestão interna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9620" y="4389120"/>
            <a:ext cx="53340" cy="53340"/>
          </a:xfrm>
          <a:prstGeom prst="roundRect">
            <a:avLst>
              <a:gd name="adj" fmla="val 12000"/>
            </a:avLst>
          </a:prstGeom>
          <a:solidFill>
            <a:srgbClr val="CA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6780" y="427482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FFFFFF"/>
                </a:solidFill>
                <a:latin typeface="DejaVu Sans"/>
              </a:defRPr>
            </a:pPr>
            <a:r>
              <a:t>Agenda da equipe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9620" y="4747260"/>
            <a:ext cx="53340" cy="53340"/>
          </a:xfrm>
          <a:prstGeom prst="roundRect">
            <a:avLst>
              <a:gd name="adj" fmla="val 12000"/>
            </a:avLst>
          </a:prstGeom>
          <a:solidFill>
            <a:srgbClr val="CA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6780" y="463296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FFFFFF"/>
                </a:solidFill>
                <a:latin typeface="DejaVu Sans"/>
              </a:defRPr>
            </a:pPr>
            <a:r>
              <a:t>Site público de agendamento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9620" y="5105400"/>
            <a:ext cx="53340" cy="53340"/>
          </a:xfrm>
          <a:prstGeom prst="roundRect">
            <a:avLst>
              <a:gd name="adj" fmla="val 12000"/>
            </a:avLst>
          </a:prstGeom>
          <a:solidFill>
            <a:srgbClr val="CA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6780" y="499110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FFFFFF"/>
                </a:solidFill>
                <a:latin typeface="DejaVu Sans"/>
              </a:defRPr>
            </a:pPr>
            <a:r>
              <a:t>WhatsApp com integração ativa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471160"/>
            <a:ext cx="3192780" cy="31455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36"/>
              </a:lnSpc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CAF0B4"/>
                </a:solidFill>
                <a:latin typeface="DejaVu Sans"/>
              </a:defRPr>
            </a:pPr>
            <a:r>
              <a:t>Solicite uma proposta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06740" y="2560320"/>
            <a:ext cx="3611880" cy="3299460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7720" y="2811780"/>
            <a:ext cx="3200400" cy="494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460" b="1">
                <a:solidFill>
                  <a:srgbClr val="161A20"/>
                </a:solidFill>
                <a:latin typeface="DejaVu Sans"/>
              </a:defRPr>
            </a:pPr>
            <a:r>
              <a:t>Pro + Filiais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7720" y="3276600"/>
            <a:ext cx="3177540" cy="29565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080"/>
                </a:solidFill>
                <a:latin typeface="DejaVu Sans"/>
              </a:defRPr>
            </a:pPr>
            <a:r>
              <a:t>Para organizar unidades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20100" y="3703320"/>
            <a:ext cx="31775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35340" y="4030980"/>
            <a:ext cx="53340" cy="5334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2500" y="391668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161A20"/>
                </a:solidFill>
                <a:latin typeface="DejaVu Sans"/>
              </a:defRPr>
            </a:pPr>
            <a:r>
              <a:t>Recursos do Pro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35340" y="4389120"/>
            <a:ext cx="53340" cy="5334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2500" y="427482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161A20"/>
                </a:solidFill>
                <a:latin typeface="DejaVu Sans"/>
              </a:defRPr>
            </a:pPr>
            <a:r>
              <a:t>Operação com mais unidades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35340" y="4747260"/>
            <a:ext cx="53340" cy="5334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2500" y="463296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161A20"/>
                </a:solidFill>
                <a:latin typeface="DejaVu Sans"/>
              </a:defRPr>
            </a:pPr>
            <a:r>
              <a:t>Equipe vinculada à empresa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35340" y="5105400"/>
            <a:ext cx="53340" cy="5334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2500" y="4991100"/>
            <a:ext cx="3032760" cy="30510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161A20"/>
                </a:solidFill>
                <a:latin typeface="DejaVu Sans"/>
              </a:defRPr>
            </a:pPr>
            <a:r>
              <a:t>Controle conforme o plano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27720" y="5471160"/>
            <a:ext cx="3192780" cy="31455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36"/>
              </a:lnSpc>
              <a:spcBef>
                <a:spcPts val="0"/>
              </a:spcBef>
              <a:spcAft>
                <a:spcPts val="0"/>
              </a:spcAft>
              <a:defRPr sz="1320" b="1">
                <a:solidFill>
                  <a:srgbClr val="ED6448"/>
                </a:solidFill>
                <a:latin typeface="DejaVu Sans"/>
              </a:defRPr>
            </a:pPr>
            <a:r>
              <a:t>Solicite uma proposta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5299" y="6126480"/>
            <a:ext cx="10919460" cy="2389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041"/>
              </a:lnSpc>
              <a:spcBef>
                <a:spcPts val="0"/>
              </a:spcBef>
              <a:spcAft>
                <a:spcPts val="0"/>
              </a:spcAft>
              <a:defRPr sz="840" b="0">
                <a:solidFill>
                  <a:srgbClr val="657080"/>
                </a:solidFill>
                <a:latin typeface="DejaVu Sans"/>
              </a:defRPr>
            </a:pPr>
            <a:r>
              <a:t>Recursos, limites de perfis e unidades seguem o plano contratado. Integrações exigem ativação.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16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61A20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657080"/>
                </a:solidFill>
                <a:latin typeface="DejaVu Sans"/>
              </a:defRPr>
            </a:pPr>
            <a:r>
              <a:t>PRIMEIROS PASSOS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DE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657080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57080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" y="914400"/>
            <a:ext cx="10538460" cy="109667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Comece pelo essencial.</a:t>
            </a:r>
          </a:p>
          <a:p>
            <a:pPr>
              <a:lnSpc>
                <a:spcPts val="3897"/>
              </a:lnSpc>
              <a:spcBef>
                <a:spcPts val="0"/>
              </a:spcBef>
              <a:spcAft>
                <a:spcPts val="0"/>
              </a:spcAft>
              <a:defRPr sz="3479" b="1">
                <a:solidFill>
                  <a:srgbClr val="161A20"/>
                </a:solidFill>
                <a:latin typeface="DejaVu Sans"/>
              </a:defRPr>
            </a:pPr>
            <a:r>
              <a:t>Evolua com a operação.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5830"/>
            <a:ext cx="105384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57080"/>
                </a:solidFill>
                <a:latin typeface="DejaVu Sans"/>
              </a:defRPr>
            </a:pPr>
            <a:r>
              <a:t>Uma sequência para organizar a entrada do sistema na rotina.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540" y="3048000"/>
            <a:ext cx="2552700" cy="1897380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2171700" cy="55077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96"/>
              </a:lnSpc>
              <a:spcBef>
                <a:spcPts val="0"/>
              </a:spcBef>
              <a:spcAft>
                <a:spcPts val="0"/>
              </a:spcAft>
              <a:defRPr sz="2820" b="1">
                <a:solidFill>
                  <a:srgbClr val="ED644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79520"/>
            <a:ext cx="2194560" cy="59801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34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161A20"/>
                </a:solidFill>
                <a:latin typeface="DejaVu Sans"/>
              </a:defRPr>
            </a:pPr>
            <a:r>
              <a:t>Configure o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58640"/>
            <a:ext cx="2217420" cy="7696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657080"/>
                </a:solidFill>
                <a:latin typeface="DejaVu Sans"/>
              </a:defRPr>
            </a:pPr>
            <a:r>
              <a:t>Dados da barbearia, unidade e identidade pública.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3720" y="3718560"/>
            <a:ext cx="502920" cy="51297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99"/>
              </a:lnSpc>
              <a:spcBef>
                <a:spcPts val="0"/>
              </a:spcBef>
              <a:spcAft>
                <a:spcPts val="0"/>
              </a:spcAft>
              <a:defRPr sz="2580" b="0">
                <a:solidFill>
                  <a:srgbClr val="ED644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75660" y="3048000"/>
            <a:ext cx="2552700" cy="1897380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0920" y="3200400"/>
            <a:ext cx="2171700" cy="55077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96"/>
              </a:lnSpc>
              <a:spcBef>
                <a:spcPts val="0"/>
              </a:spcBef>
              <a:spcAft>
                <a:spcPts val="0"/>
              </a:spcAft>
              <a:defRPr sz="2820" b="1">
                <a:solidFill>
                  <a:srgbClr val="ED644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920" y="3779520"/>
            <a:ext cx="2194560" cy="59801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34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161A20"/>
                </a:solidFill>
                <a:latin typeface="DejaVu Sans"/>
              </a:defRPr>
            </a:pPr>
            <a:r>
              <a:t>Cadastre serviços e equipe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0920" y="4358640"/>
            <a:ext cx="221742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657080"/>
                </a:solidFill>
                <a:latin typeface="DejaVu Sans"/>
              </a:defRPr>
            </a:pPr>
            <a:r>
              <a:t>Preços, duração, profissionais e permissões.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8840" y="3718560"/>
            <a:ext cx="502920" cy="51297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99"/>
              </a:lnSpc>
              <a:spcBef>
                <a:spcPts val="0"/>
              </a:spcBef>
              <a:spcAft>
                <a:spcPts val="0"/>
              </a:spcAft>
              <a:defRPr sz="2580" b="0">
                <a:solidFill>
                  <a:srgbClr val="ED644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0780" y="3048000"/>
            <a:ext cx="2552700" cy="1897380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6040" y="3200400"/>
            <a:ext cx="2171700" cy="55077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96"/>
              </a:lnSpc>
              <a:spcBef>
                <a:spcPts val="0"/>
              </a:spcBef>
              <a:spcAft>
                <a:spcPts val="0"/>
              </a:spcAft>
              <a:defRPr sz="2820" b="1">
                <a:solidFill>
                  <a:srgbClr val="ED644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6040" y="3779520"/>
            <a:ext cx="2194560" cy="59801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34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161A20"/>
                </a:solidFill>
                <a:latin typeface="DejaVu Sans"/>
              </a:defRPr>
            </a:pPr>
            <a:r>
              <a:t>Prepare a operação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6040" y="4358640"/>
            <a:ext cx="221742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657080"/>
                </a:solidFill>
                <a:latin typeface="DejaVu Sans"/>
              </a:defRPr>
            </a:pPr>
            <a:r>
              <a:t>Disponibilidade, produtos e rotina de caixa.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718560"/>
            <a:ext cx="502920" cy="51297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199"/>
              </a:lnSpc>
              <a:spcBef>
                <a:spcPts val="0"/>
              </a:spcBef>
              <a:spcAft>
                <a:spcPts val="0"/>
              </a:spcAft>
              <a:defRPr sz="2580" b="0">
                <a:solidFill>
                  <a:srgbClr val="ED644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05900" y="3048000"/>
            <a:ext cx="2552700" cy="1897380"/>
          </a:xfrm>
          <a:prstGeom prst="roundRect">
            <a:avLst>
              <a:gd name="adj" fmla="val 88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200400"/>
            <a:ext cx="2171700" cy="55077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96"/>
              </a:lnSpc>
              <a:spcBef>
                <a:spcPts val="0"/>
              </a:spcBef>
              <a:spcAft>
                <a:spcPts val="0"/>
              </a:spcAft>
              <a:defRPr sz="2820" b="1">
                <a:solidFill>
                  <a:srgbClr val="ED644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779520"/>
            <a:ext cx="2194560" cy="59801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34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161A20"/>
                </a:solidFill>
                <a:latin typeface="DejaVu Sans"/>
              </a:defRPr>
            </a:pPr>
            <a:r>
              <a:t>Acompanhe os registros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358640"/>
            <a:ext cx="221742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0">
                <a:solidFill>
                  <a:srgbClr val="657080"/>
                </a:solidFill>
                <a:latin typeface="DejaVu Sans"/>
              </a:defRPr>
            </a:pPr>
            <a:r>
              <a:t>Atendimentos, vendas e relatórios do período.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160" y="5615940"/>
            <a:ext cx="10767060" cy="39014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1A20"/>
                </a:solidFill>
                <a:latin typeface="DejaVu Sans"/>
              </a:defRPr>
            </a:pPr>
            <a:r>
              <a:t>Conheça o fluxo em uma demonstração antes de escolher o seu plano.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" y="32004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6740" y="419100"/>
            <a:ext cx="68580" cy="685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281940"/>
            <a:ext cx="2308860" cy="36179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08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20040"/>
            <a:ext cx="3909060" cy="2578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19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AF0B4"/>
                </a:solidFill>
                <a:latin typeface="DejaVu Sans"/>
              </a:defRPr>
            </a:pPr>
            <a:r>
              <a:t>PRÓXIMO PASSO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6393180"/>
            <a:ext cx="11216640" cy="7620"/>
          </a:xfrm>
          <a:prstGeom prst="rect">
            <a:avLst/>
          </a:prstGeom>
          <a:solidFill>
            <a:srgbClr val="364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80" y="6499860"/>
            <a:ext cx="8404860" cy="22951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967"/>
              </a:lnSpc>
              <a:spcBef>
                <a:spcPts val="0"/>
              </a:spcBef>
              <a:spcAft>
                <a:spcPts val="0"/>
              </a:spcAft>
              <a:defRPr sz="780" b="0">
                <a:solidFill>
                  <a:srgbClr val="ADB6C1"/>
                </a:solidFill>
                <a:latin typeface="DejaVu Sans"/>
              </a:defRPr>
            </a:pPr>
            <a:r>
              <a:t>RUPCONTROL ·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7140" y="6477000"/>
            <a:ext cx="35052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ADB6C1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50620"/>
            <a:ext cx="1577340" cy="3352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1211580"/>
            <a:ext cx="1409700" cy="2673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FFFFFF"/>
                </a:solidFill>
                <a:latin typeface="DejaVu Sans"/>
              </a:defRPr>
            </a:pPr>
            <a:r>
              <a:t>RUPCONTROL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80" y="1767840"/>
            <a:ext cx="8001000" cy="24612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6180"/>
              </a:lnSpc>
              <a:spcBef>
                <a:spcPts val="0"/>
              </a:spcBef>
              <a:spcAft>
                <a:spcPts val="0"/>
              </a:spcAft>
              <a:defRPr sz="5460" b="1">
                <a:solidFill>
                  <a:srgbClr val="FFFFFF"/>
                </a:solidFill>
                <a:latin typeface="DejaVu Sans"/>
              </a:defRPr>
            </a:pPr>
            <a:r>
              <a:t>Vamos colocar</a:t>
            </a:r>
          </a:p>
          <a:p>
            <a:pPr>
              <a:lnSpc>
                <a:spcPts val="6180"/>
              </a:lnSpc>
              <a:spcBef>
                <a:spcPts val="0"/>
              </a:spcBef>
              <a:spcAft>
                <a:spcPts val="0"/>
              </a:spcAft>
              <a:defRPr sz="5460" b="1">
                <a:solidFill>
                  <a:srgbClr val="FFFFFF"/>
                </a:solidFill>
                <a:latin typeface="DejaVu Sans"/>
              </a:defRPr>
            </a:pPr>
            <a:r>
              <a:t>sua gestão</a:t>
            </a:r>
          </a:p>
          <a:p>
            <a:pPr>
              <a:lnSpc>
                <a:spcPts val="6180"/>
              </a:lnSpc>
              <a:spcBef>
                <a:spcPts val="0"/>
              </a:spcBef>
              <a:spcAft>
                <a:spcPts val="0"/>
              </a:spcAft>
              <a:defRPr sz="5460" b="1">
                <a:solidFill>
                  <a:srgbClr val="FFFFFF"/>
                </a:solidFill>
                <a:latin typeface="DejaVu Sans"/>
              </a:defRPr>
            </a:pPr>
            <a:r>
              <a:t>em movimento?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60" y="4640580"/>
            <a:ext cx="10081260" cy="762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BAC6D4"/>
                </a:solidFill>
                <a:latin typeface="DejaVu Sans"/>
              </a:defRPr>
            </a:pPr>
            <a:r>
              <a:t>Agende uma demonstração.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BAC6D4"/>
                </a:solidFill>
                <a:latin typeface="DejaVu Sans"/>
              </a:defRPr>
            </a:pPr>
            <a:r>
              <a:t>Solicite uma proposta para a sua operação.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5783580"/>
            <a:ext cx="10995660" cy="32400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711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CAF0B4"/>
                </a:solidFill>
                <a:latin typeface="DejaVu Sans"/>
              </a:defRPr>
            </a:pPr>
            <a:r>
              <a:t>Fale com quem te enviou esta apresentação e conheça o próximo passo.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9300" y="2240280"/>
            <a:ext cx="1866899" cy="1866899"/>
          </a:xfrm>
          <a:prstGeom prst="roundRect">
            <a:avLst>
              <a:gd name="adj" fmla="val 12000"/>
            </a:avLst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20300" y="262128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ED6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99420" y="262128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CA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20300" y="320040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CA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99420" y="320040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CA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RupControl — apresentação comercial</dc:title>
  <dc:subject>Gestão para barbearias</dc:subject>
  <dc:creator>RupControl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